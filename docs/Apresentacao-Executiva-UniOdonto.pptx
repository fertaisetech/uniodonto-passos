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76be30990841c3" /><Relationship Type="http://schemas.openxmlformats.org/officeDocument/2006/relationships/extended-properties" Target="/docProps/app.xml" Id="Re8ef6c41a3c6467d" /><Relationship Type="http://schemas.openxmlformats.org/officeDocument/2006/relationships/officeDocument" Target="/ppt/presentation.xml" Id="Rcbba829dfaa146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2ea868b95496d"/>
  </p:sldMasterIdLst>
  <p:notesMasterIdLst>
    <p:notesMasterId xmlns:r="http://schemas.openxmlformats.org/officeDocument/2006/relationships" r:id="R6be9b46833af4442"/>
  </p:notesMasterIdLst>
  <p:sldIdLst>
    <p:sldId xmlns:r="http://schemas.openxmlformats.org/officeDocument/2006/relationships" id="256" r:id="Ra4f887a0b2ed4855"/>
    <p:sldId xmlns:r="http://schemas.openxmlformats.org/officeDocument/2006/relationships" id="257" r:id="R2491b452093e4ff2"/>
    <p:sldId xmlns:r="http://schemas.openxmlformats.org/officeDocument/2006/relationships" id="258" r:id="Rca2b1552957f40a7"/>
    <p:sldId xmlns:r="http://schemas.openxmlformats.org/officeDocument/2006/relationships" id="259" r:id="R11b58092a3504de8"/>
    <p:sldId xmlns:r="http://schemas.openxmlformats.org/officeDocument/2006/relationships" id="260" r:id="R8822afac036043eb"/>
    <p:sldId xmlns:r="http://schemas.openxmlformats.org/officeDocument/2006/relationships" id="261" r:id="Rb9aadef48b044ba1"/>
    <p:sldId xmlns:r="http://schemas.openxmlformats.org/officeDocument/2006/relationships" id="262" r:id="R4db84e4d579442b7"/>
    <p:sldId xmlns:r="http://schemas.openxmlformats.org/officeDocument/2006/relationships" id="263" r:id="Rd3b2f55bbc0342f6"/>
    <p:sldId xmlns:r="http://schemas.openxmlformats.org/officeDocument/2006/relationships" id="264" r:id="R6553e5b41c594584"/>
    <p:sldId xmlns:r="http://schemas.openxmlformats.org/officeDocument/2006/relationships" id="265" r:id="R3a28f3a6a59847ee"/>
    <p:sldId xmlns:r="http://schemas.openxmlformats.org/officeDocument/2006/relationships" id="266" r:id="Rc4dfa4dd6b5e4eef"/>
    <p:sldId xmlns:r="http://schemas.openxmlformats.org/officeDocument/2006/relationships" id="267" r:id="R060966b1b38345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0f3ad80dd4570" /><Relationship Type="http://schemas.openxmlformats.org/officeDocument/2006/relationships/slideMaster" Target="/ppt/slideMasters/slideMaster1.xml" Id="R2252ea868b95496d" /><Relationship Type="http://schemas.openxmlformats.org/officeDocument/2006/relationships/notesMaster" Target="/ppt/notesMasters/notesMaster1.xml" Id="R6be9b46833af4442" /><Relationship Type="http://schemas.openxmlformats.org/officeDocument/2006/relationships/presProps" Target="/ppt/presProps.xml" Id="Rf111e0acd0eb4e0f" /><Relationship Type="http://schemas.openxmlformats.org/officeDocument/2006/relationships/tableStyles" Target="/ppt/tableStyles.xml" Id="R0280bfb7c5e545df" /><Relationship Type="http://schemas.openxmlformats.org/officeDocument/2006/relationships/slide" Target="/ppt/slides/slide1.xml" Id="Ra4f887a0b2ed4855" /><Relationship Type="http://schemas.openxmlformats.org/officeDocument/2006/relationships/slide" Target="/ppt/slides/slide2.xml" Id="R2491b452093e4ff2" /><Relationship Type="http://schemas.openxmlformats.org/officeDocument/2006/relationships/slide" Target="/ppt/slides/slide3.xml" Id="Rca2b1552957f40a7" /><Relationship Type="http://schemas.openxmlformats.org/officeDocument/2006/relationships/slide" Target="/ppt/slides/slide4.xml" Id="R11b58092a3504de8" /><Relationship Type="http://schemas.openxmlformats.org/officeDocument/2006/relationships/slide" Target="/ppt/slides/slide5.xml" Id="R8822afac036043eb" /><Relationship Type="http://schemas.openxmlformats.org/officeDocument/2006/relationships/slide" Target="/ppt/slides/slide6.xml" Id="Rb9aadef48b044ba1" /><Relationship Type="http://schemas.openxmlformats.org/officeDocument/2006/relationships/slide" Target="/ppt/slides/slide7.xml" Id="R4db84e4d579442b7" /><Relationship Type="http://schemas.openxmlformats.org/officeDocument/2006/relationships/slide" Target="/ppt/slides/slide8.xml" Id="Rd3b2f55bbc0342f6" /><Relationship Type="http://schemas.openxmlformats.org/officeDocument/2006/relationships/slide" Target="/ppt/slides/slide9.xml" Id="R6553e5b41c594584" /><Relationship Type="http://schemas.openxmlformats.org/officeDocument/2006/relationships/slide" Target="/ppt/slides/slide10.xml" Id="R3a28f3a6a59847ee" /><Relationship Type="http://schemas.openxmlformats.org/officeDocument/2006/relationships/slide" Target="/ppt/slides/slide11.xml" Id="Rc4dfa4dd6b5e4eef" /><Relationship Type="http://schemas.openxmlformats.org/officeDocument/2006/relationships/slide" Target="/ppt/slides/slide12.xml" Id="R060966b1b383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342b377edd4e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2a1a5c48b4443b" /><Relationship Type="http://schemas.openxmlformats.org/officeDocument/2006/relationships/notesMaster" Target="/ppt/notesMasters/notesMaster1.xml" Id="R7c44ef0b198948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f71e356cb24596" /><Relationship Type="http://schemas.openxmlformats.org/officeDocument/2006/relationships/notesMaster" Target="/ppt/notesMasters/notesMaster1.xml" Id="R6b16885684e6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15c88f64b4e1d" /><Relationship Type="http://schemas.openxmlformats.org/officeDocument/2006/relationships/notesMaster" Target="/ppt/notesMasters/notesMaster1.xml" Id="R7af20097ff194e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d9cc7ce4b431d" /><Relationship Type="http://schemas.openxmlformats.org/officeDocument/2006/relationships/notesMaster" Target="/ppt/notesMasters/notesMaster1.xml" Id="R3494f16ccba44a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3ce5778fca4705" /><Relationship Type="http://schemas.openxmlformats.org/officeDocument/2006/relationships/notesMaster" Target="/ppt/notesMasters/notesMaster1.xml" Id="Rebe53cd06fdc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2242aba6394686" /><Relationship Type="http://schemas.openxmlformats.org/officeDocument/2006/relationships/notesMaster" Target="/ppt/notesMasters/notesMaster1.xml" Id="R22897f769f4740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a55f8a504b446e" /><Relationship Type="http://schemas.openxmlformats.org/officeDocument/2006/relationships/notesMaster" Target="/ppt/notesMasters/notesMaster1.xml" Id="Rb69da39efcd3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158b51efb4629" /><Relationship Type="http://schemas.openxmlformats.org/officeDocument/2006/relationships/notesMaster" Target="/ppt/notesMasters/notesMaster1.xml" Id="Rb9334d19fc1f49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53a9e925044fe0" /><Relationship Type="http://schemas.openxmlformats.org/officeDocument/2006/relationships/notesMaster" Target="/ppt/notesMasters/notesMaster1.xml" Id="Rdf985a47ff2a47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ba2fcf3efa4111" /><Relationship Type="http://schemas.openxmlformats.org/officeDocument/2006/relationships/notesMaster" Target="/ppt/notesMasters/notesMaster1.xml" Id="R3cc835e413cf46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d30e6277134c10" /><Relationship Type="http://schemas.openxmlformats.org/officeDocument/2006/relationships/notesMaster" Target="/ppt/notesMasters/notesMaster1.xml" Id="Rfe2e01c05ff34d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23717d4edf4f5d" /><Relationship Type="http://schemas.openxmlformats.org/officeDocument/2006/relationships/notesMaster" Target="/ppt/notesMasters/notesMaster1.xml" Id="R3957bff1ec7e4a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Logo: public/images/LogoUniodonto.webp</a:t>
            </a:r>
          </a:p>
          <a:p xmlns:a="http://schemas.openxmlformats.org/drawingml/2006/main">
            <a:r>
              <a:t>Mensagem institucional baseada na finalidade do Portal Executivo.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Descrição das funções consolidada a partir das telas do projeto: src/pages/Dashboard.tsx, src/pages/EnvioIntegracao.tsx, src/pages/Relatorios.tsx.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Imagem: C:/Users/famil/AppData/Local/Temp/codex-clipboard-015014a4-4659-466f-8b43-fea5a2a87b01.png</a:t>
            </a:r>
          </a:p>
          <a:p xmlns:a="http://schemas.openxmlformats.org/drawingml/2006/main">
            <a:r>
              <a:t>Tela: src/pages/Dashboard.tsx.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Imagem: C:/Users/famil/AppData/Local/Temp/codex-clipboard-a2949f5b-d1c5-4a24-a0f1-8fe38f20b216.png</a:t>
            </a:r>
          </a:p>
          <a:p xmlns:a="http://schemas.openxmlformats.org/drawingml/2006/main">
            <a:r>
              <a:t>Métricas e canais baseados em src/pages/EnvioIntegracao.tsx e src/pages/Dashboard.tsx.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Imagem: C:/Users/famil/AppData/Local/Temp/codex-clipboard-0d65feae-5cf8-474a-933c-533d0c554182.png</a:t>
            </a:r>
          </a:p>
          <a:p xmlns:a="http://schemas.openxmlformats.org/drawingml/2006/main">
            <a:r>
              <a:t>Tela e indicadores: src/pages/Dashboard.tsx, src/pages/EnvioIntegracao.tsx.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Imagem: C:/Users/famil/AppData/Local/Temp/codex-clipboard-0ea6975c-29b0-43b7-abd7-e9fe7aee02d0.png</a:t>
            </a:r>
          </a:p>
          <a:p xmlns:a="http://schemas.openxmlformats.org/drawingml/2006/main">
            <a:r>
              <a:t>Tela: src/pages/Dashboard.tsx e src/pages/EnvioIntegracao.tsx.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Imagem: C:/Users/famil/AppData/Local/Temp/codex-clipboard-6e9db29c-1bb7-4354-b8fb-c532014d081a.png</a:t>
            </a:r>
          </a:p>
          <a:p xmlns:a="http://schemas.openxmlformats.org/drawingml/2006/main">
            <a:r>
              <a:t>Fluxo baseado em src/pages/EnvioIntegracao.tsx e src/lib/dashboardData.ts.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Perfis e telas baseados em src/pages/Configuracoes.tsx, src/contexts/AppSessionContext.tsx e src/config/navigation.tsx.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Definições padronizadas para a apresentação; usar os valores exibidos no sistema como fonte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Princípios alinhados ao comportamento solicitado para sincronização, permissões e transparência de dados no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Roteiro de demonstração elaborado para a reunião com a diretoria; sem dependência de dados externos.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Encerramento institucional; logo: public/images/LogoUniodonto.webp.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8dd7648f2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47a91e4974449b" /><Relationship Type="http://schemas.openxmlformats.org/officeDocument/2006/relationships/slideLayout" Target="/ppt/slideLayouts/slideLayout1.xml" Id="Rddf4915c8ec3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4915c8ec3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c4fbb308c4deb" /><Relationship Type="http://schemas.openxmlformats.org/officeDocument/2006/relationships/image" Target="/ppt/media/image.bin" Id="R2c9289d62a72494d" /><Relationship Type="http://schemas.openxmlformats.org/officeDocument/2006/relationships/notesSlide" Target="/ppt/notesSlides/notesSlide1.xml" Id="Rad32a639e1c042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7bd7e821c4428" /><Relationship Type="http://schemas.openxmlformats.org/officeDocument/2006/relationships/notesSlide" Target="/ppt/notesSlides/notesSlide2.xml" Id="R723982cbbd554f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020b591b542ba" /><Relationship Type="http://schemas.openxmlformats.org/officeDocument/2006/relationships/image" Target="/ppt/media/image.png" Id="Rbf637a4154bc4d92" /><Relationship Type="http://schemas.openxmlformats.org/officeDocument/2006/relationships/notesSlide" Target="/ppt/notesSlides/notesSlide3.xml" Id="R68c1f6c67a2d4b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f22fa369c4299" /><Relationship Type="http://schemas.openxmlformats.org/officeDocument/2006/relationships/image" Target="/ppt/media/image2.png" Id="R30af0259732b41db" /><Relationship Type="http://schemas.openxmlformats.org/officeDocument/2006/relationships/notesSlide" Target="/ppt/notesSlides/notesSlide4.xml" Id="R40c507584fdb4d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91008a3844e81" /><Relationship Type="http://schemas.openxmlformats.org/officeDocument/2006/relationships/image" Target="/ppt/media/image3.png" Id="R01a1466618cd43ee" /><Relationship Type="http://schemas.openxmlformats.org/officeDocument/2006/relationships/notesSlide" Target="/ppt/notesSlides/notesSlide5.xml" Id="R8fbc20f504e14d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69ea6e44443ff" /><Relationship Type="http://schemas.openxmlformats.org/officeDocument/2006/relationships/image" Target="/ppt/media/image4.png" Id="R64bd220b17c244f1" /><Relationship Type="http://schemas.openxmlformats.org/officeDocument/2006/relationships/notesSlide" Target="/ppt/notesSlides/notesSlide6.xml" Id="R0e4eb7a5e62a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8b919678d4916" /><Relationship Type="http://schemas.openxmlformats.org/officeDocument/2006/relationships/image" Target="/ppt/media/image5.png" Id="R1e0b74b351a54292" /><Relationship Type="http://schemas.openxmlformats.org/officeDocument/2006/relationships/notesSlide" Target="/ppt/notesSlides/notesSlide7.xml" Id="R4564405f72354b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11f87b6734b35" /><Relationship Type="http://schemas.openxmlformats.org/officeDocument/2006/relationships/notesSlide" Target="/ppt/notesSlides/notesSlide8.xml" Id="Rccf9823020434e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d22f968ae4c38" /><Relationship Type="http://schemas.openxmlformats.org/officeDocument/2006/relationships/notesSlide" Target="/ppt/notesSlides/notesSlide9.xml" Id="R04fbf7fa76ef40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18861e874349" /><Relationship Type="http://schemas.openxmlformats.org/officeDocument/2006/relationships/notesSlide" Target="/ppt/notesSlides/notesSlide10.xml" Id="R6ab00d31ce7149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4af3f8ad441b3" /><Relationship Type="http://schemas.openxmlformats.org/officeDocument/2006/relationships/notesSlide" Target="/ppt/notesSlides/notesSlide11.xml" Id="R2be6b208254746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004f2a0834c7e" /><Relationship Type="http://schemas.openxmlformats.org/officeDocument/2006/relationships/image" Target="/ppt/media/image2.bin" Id="R508e595ca2984d39" /><Relationship Type="http://schemas.openxmlformats.org/officeDocument/2006/relationships/notesSlide" Target="/ppt/notesSlides/notesSlide12.xml" Id="R76763aec9a1a4b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0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414D5-71FB-4A5F-807A-D3D1C3D9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289d62a72494d"/>
          <a:stretch xmlns:a="http://schemas.openxmlformats.org/drawingml/2006/main"/>
        </p:blipFill>
        <p:spPr>
          <a:xfrm xmlns:a="http://schemas.openxmlformats.org/drawingml/2006/main">
            <a:off x="742950" y="666750"/>
            <a:ext cx="914400" cy="914400"/>
          </a:xfrm>
          <a:prstGeom xmlns:a="http://schemas.openxmlformats.org/drawingml/2006/main" prst="roundRect">
            <a:avLst>
              <a:gd name="adj" fmla="val 1250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87B38-8D18-4E08-863A-5849300B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C7D6"/>
                </a:solidFill>
              </a:defRPr>
            </a:pPr>
            <a:r>
              <a:rPr sz="1125" b="1">
                <a:solidFill>
                  <a:srgbClr val="D9C7D6"/>
                </a:solidFill>
              </a:rPr>
              <a:t>PORTAL EXECUTIVO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36E40-AC08-4B78-A6AC-191D8CC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UniOdonto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72066-A57E-42E1-A437-DEEA5255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7DDE5"/>
                </a:solidFill>
              </a:defRPr>
            </a:pPr>
            <a:r>
              <a:rPr sz="1950">
                <a:solidFill>
                  <a:srgbClr val="E7DDE5"/>
                </a:solidFill>
              </a:rPr>
              <a:t>Informação clara para decisões melhores.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7F588-DC38-4EA8-9A02-9F3BCE53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3282"/>
          </a:solidFill>
          <a:ln xmlns:a="http://schemas.openxmlformats.org/drawingml/2006/main" w="0">
            <a:solidFill>
              <a:srgbClr val="F132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C33D1-D977-417D-9281-819BB5AB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C9D4"/>
                </a:solidFill>
              </a:defRPr>
            </a:pPr>
            <a:r>
              <a:rPr sz="1275" b="1">
                <a:solidFill>
                  <a:srgbClr val="D6C9D4"/>
                </a:solidFill>
              </a:rPr>
              <a:t>Apresentação executiva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E460C-DDDF-4D69-AFA7-A990ABBC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714750" cy="45339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211022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816EE-BC40-400C-81B6-5EAE2DBF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13282"/>
                </a:solidFill>
              </a:defRPr>
            </a:pPr>
            <a:r>
              <a:rPr sz="2250" b="1">
                <a:solidFill>
                  <a:srgbClr val="F13282"/>
                </a:solidFill>
              </a:rPr>
              <a:t>DADOS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E8B8B-E9AB-4575-8558-14C1E4D0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D8E2"/>
                </a:solidFill>
              </a:defRPr>
            </a:pPr>
            <a:r>
              <a:rPr sz="2250" b="1">
                <a:solidFill>
                  <a:srgbClr val="E6D8E2"/>
                </a:solidFill>
              </a:rPr>
              <a:t>CONTEXTO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2B04A-D7BB-4510-8283-1C1A973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DECISÃO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8387F-A36F-45E6-80BE-59C2B95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A45"/>
          </a:solidFill>
          <a:ln xmlns:a="http://schemas.openxmlformats.org/drawingml/2006/main" w="0">
            <a:solidFill>
              <a:srgbClr val="4A2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32C8F-51F1-4BBA-9F1E-F9D0CA67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A45"/>
          </a:solidFill>
          <a:ln xmlns:a="http://schemas.openxmlformats.org/drawingml/2006/main" w="0">
            <a:solidFill>
              <a:srgbClr val="4A2A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ECC12-6B8A-4242-8ABA-3E2700C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8C7"/>
                </a:solidFill>
              </a:defRPr>
            </a:pPr>
            <a:r>
              <a:rPr sz="900" b="1">
                <a:solidFill>
                  <a:srgbClr val="C9B8C7"/>
                </a:solidFill>
              </a:rPr>
              <a:t>PORTAL EXECUTIVO UNIODONTO  •  01</a:t>
            </a:r>
          </a:p>
        </p:txBody>
      </p:sp>
    </p:spTree>
    <p:extLst>
      <p:ext uri="{BB962C8B-B14F-4D97-AF65-F5344CB8AC3E}">
        <p14:creationId xmlns:p14="http://schemas.microsoft.com/office/powerpoint/2010/main" val="318453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468CC-0C17-4FF8-BEB9-E7F13AF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POR QUE EXISTE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B5314-8C98-42A9-BC54-E846E1D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O portal transforma dados dispersos em decisão executiva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C9D72-AEDD-447C-8546-C76C35F0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A proposta é reduzir o tempo entre enxergar o cenário e escolher o próximo movimento.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AB3BF-D7BA-4C48-81FA-EE54ECBF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238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CE8D0-8752-4163-8BBC-AADFCECE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9006E"/>
                </a:solidFill>
              </a:defRPr>
            </a:pPr>
            <a:r>
              <a:rPr sz="1650" b="1">
                <a:solidFill>
                  <a:srgbClr val="C9006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F75D3-201D-4624-8130-27407F93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Acompanhar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2D53D-DCA2-4162-8530-AEB1D984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A84"/>
                </a:solidFill>
              </a:defRPr>
            </a:pPr>
            <a:r>
              <a:rPr sz="1350">
                <a:solidFill>
                  <a:srgbClr val="596A84"/>
                </a:solidFill>
              </a:rPr>
              <a:t>Indicadores de beneficiários, marketing, investimentos, cidades e evolução mensal.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F207-E291-4596-AD1E-C8CDEC5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6E"/>
          </a:solidFill>
          <a:ln xmlns:a="http://schemas.openxmlformats.org/drawingml/2006/main" w="0">
            <a:solidFill>
              <a:srgbClr val="C900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AE2B1-86E9-40F0-B43E-47D7564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3238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2C210-83A5-4BA5-A69F-CEEE1D13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B45E8"/>
                </a:solidFill>
              </a:defRPr>
            </a:pPr>
            <a:r>
              <a:rPr sz="1650" b="1">
                <a:solidFill>
                  <a:srgbClr val="7B45E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72781-DA98-44FA-92F5-5DBBCC1D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Entender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99DFD-B4A9-4A8E-8746-92DAF597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A84"/>
                </a:solidFill>
              </a:defRPr>
            </a:pPr>
            <a:r>
              <a:rPr sz="1350">
                <a:solidFill>
                  <a:srgbClr val="596A84"/>
                </a:solidFill>
              </a:rPr>
              <a:t>Filtros por período, canal e foco ajudam a explicar o que mudou.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A238B-5773-4A86-8134-073E84E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5E8"/>
          </a:solidFill>
          <a:ln xmlns:a="http://schemas.openxmlformats.org/drawingml/2006/main" w="0">
            <a:solidFill>
              <a:srgbClr val="7B4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AE740-6621-448A-A0B8-5F545D95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238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E7F13-EC84-4BAD-885D-2B60D3DD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895D"/>
                </a:solidFill>
              </a:defRPr>
            </a:pPr>
            <a:r>
              <a:rPr sz="1650" b="1">
                <a:solidFill>
                  <a:srgbClr val="1289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AC087-B40E-4A46-9214-BA54B26F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213A"/>
                </a:solidFill>
              </a:defRPr>
            </a:pPr>
            <a:r>
              <a:rPr sz="1950" b="1">
                <a:solidFill>
                  <a:srgbClr val="13213A"/>
                </a:solidFill>
              </a:rPr>
              <a:t>Agir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8BC5B-1CFF-4082-9764-E665F0E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A84"/>
                </a:solidFill>
              </a:defRPr>
            </a:pPr>
            <a:r>
              <a:rPr sz="1350">
                <a:solidFill>
                  <a:srgbClr val="596A84"/>
                </a:solidFill>
              </a:rPr>
              <a:t>Atualização centralizada, permissões por perfil e relatórios para a diretoria.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DE25F-DDD2-4F13-BFC1-D6E02FCC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95D"/>
          </a:solidFill>
          <a:ln xmlns:a="http://schemas.openxmlformats.org/drawingml/2006/main" w="0">
            <a:solidFill>
              <a:srgbClr val="1289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02253-1B82-48F4-B42F-ECC6D0D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A rotina começa no dado mensal e termina em uma conversa mais objetiva com a diretoria.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AD9A5-96BD-467E-8114-E62C98A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02</a:t>
            </a:r>
          </a:p>
        </p:txBody>
      </p:sp>
    </p:spTree>
    <p:extLst>
      <p:ext uri="{BB962C8B-B14F-4D97-AF65-F5344CB8AC3E}">
        <p14:creationId xmlns:p14="http://schemas.microsoft.com/office/powerpoint/2010/main" val="1769513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6B16B-9420-48C0-A629-AA035CF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VISÃO EXECUTIVA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7C079-F50D-441A-9B7F-D3CEE60E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O Dashboard concentra o que merece atenção primeiro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B1C9D-4407-4270-AF98-F14A8345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Período, KPIs e desempenho de marketing aparecem em uma única leitura.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541F9-EFE0-46B2-97C9-CDE29FFF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9532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37a4154bc4d92"/>
          <a:stretch xmlns:a="http://schemas.openxmlformats.org/drawingml/2006/main"/>
        </p:blipFill>
        <p:spPr>
          <a:xfrm xmlns:a="http://schemas.openxmlformats.org/drawingml/2006/main">
            <a:off x="762000" y="2093574"/>
            <a:ext cx="6724650" cy="3337602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BC1E0-7BC6-4722-A00A-9F4EB77B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006E"/>
                </a:solidFill>
              </a:defRPr>
            </a:pPr>
            <a:r>
              <a:rPr sz="1800" b="1">
                <a:solidFill>
                  <a:srgbClr val="C9006E"/>
                </a:solidFill>
              </a:rPr>
              <a:t>Leitura rápida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F9E13-DA58-421B-AC06-E021F57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95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F6BC3-FD91-4093-8EF0-BBA60FB9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Período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DB69C-7618-433A-8CC0-1CF4644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Troca de mês sem perder o contexto do painel.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99F5F-4BBC-428F-8C7F-661F2FE1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A6515-A5CF-463A-9AB6-00E7A82E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24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KPIs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E3B45-132B-4F6C-A900-16A8DDE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Beneficiários, investimento, retorno e satisfação.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AEBE1-CA4D-463B-8E70-539E0649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E7CA1-025C-4448-A342-4400BBE4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Marketing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F51F1-D6D3-46DF-9B9F-9DBD7DD6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863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Canais, funil, eficiência e meta de vendas.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252D8-13B6-4C9F-9D8C-8BD77E31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03</a:t>
            </a:r>
          </a:p>
        </p:txBody>
      </p:sp>
    </p:spTree>
    <p:extLst>
      <p:ext uri="{BB962C8B-B14F-4D97-AF65-F5344CB8AC3E}">
        <p14:creationId xmlns:p14="http://schemas.microsoft.com/office/powerpoint/2010/main" val="1895378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0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2C018-412D-4F89-B1CE-96C43EBB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3282"/>
                </a:solidFill>
              </a:defRPr>
            </a:pPr>
            <a:r>
              <a:rPr sz="1050" b="1">
                <a:solidFill>
                  <a:srgbClr val="F13282"/>
                </a:solidFill>
              </a:rPr>
              <a:t>MARKETING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C0041-2994-4833-9F2C-AFD8848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Investimento e desempenho são vistos no mesmo quadro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229A-2245-4F70-9162-3E62D768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C9D4"/>
                </a:solidFill>
              </a:defRPr>
            </a:pPr>
            <a:r>
              <a:rPr sz="1425">
                <a:solidFill>
                  <a:srgbClr val="D6C9D4"/>
                </a:solidFill>
              </a:rPr>
              <a:t>O recorte por Meta, Google e Mídia Offline organiza a conversa sobre retorno.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AA7B1-6D0F-43FF-8193-DB77B1DF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5715000" cy="38862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241526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f0259732b41db"/>
          <a:stretch xmlns:a="http://schemas.openxmlformats.org/drawingml/2006/main"/>
        </p:blipFill>
        <p:spPr>
          <a:xfrm xmlns:a="http://schemas.openxmlformats.org/drawingml/2006/main">
            <a:off x="1294311" y="1981200"/>
            <a:ext cx="4421777" cy="36576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42042-53FA-4CAB-AE14-83DFD9DB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3282"/>
                </a:solidFill>
              </a:defRPr>
            </a:pPr>
            <a:r>
              <a:rPr sz="1800" b="1">
                <a:solidFill>
                  <a:srgbClr val="F13282"/>
                </a:solidFill>
              </a:rPr>
              <a:t>Perguntas que o diretor consegue responder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F1022-BD88-475C-8D64-8968D6B3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2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3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BE3C4-89F9-4606-A5ED-588FAABB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Quanto investimos?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52F2D-1101-4E8A-B67A-B035444C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O valor do período fica associado ao canal selecionado.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3C26A-3753-46E0-9AEB-3D8AD2F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02B73-5319-4B3F-9304-5497A1C5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Qual o alcance?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64C16-6E99-4ADF-9695-62988642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2430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Impressões, cliques e leads mostram o caminho do tráfego.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5FACD-2ACE-4533-A849-8A13857B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95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2A90A-079E-4D8C-B3DF-B88094F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291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Qual a eficiência?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6FC18-3747-4414-B3B0-DC9DB006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95850"/>
            <a:ext cx="3943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CTR, CPC, CAC, CPL e conversão apoiam a leitura de desempenho.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A0BAF-9EFC-4B27-A843-DF8F4A16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8C7"/>
                </a:solidFill>
              </a:defRPr>
            </a:pPr>
            <a:r>
              <a:rPr sz="900" b="1">
                <a:solidFill>
                  <a:srgbClr val="C9B8C7"/>
                </a:solidFill>
              </a:rPr>
              <a:t>PORTAL EXECUTIVO UNIODONTO  •  04</a:t>
            </a:r>
          </a:p>
        </p:txBody>
      </p:sp>
    </p:spTree>
    <p:extLst>
      <p:ext uri="{BB962C8B-B14F-4D97-AF65-F5344CB8AC3E}">
        <p14:creationId xmlns:p14="http://schemas.microsoft.com/office/powerpoint/2010/main" val="2118672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ECE35-7F58-4423-A6C9-2FCDF49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EVOLUÇÃO MENSAL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B1773-2447-4852-9A3B-2B8C085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Crescimento, cancelamentos e saldo ficam explicáveis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DA52C-F938-4FBC-A6FF-A4A929A8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A leitura combina movimento do mês, motivos de cancelamento e histórico.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4D60F-7C03-442F-8308-A7B4908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391150" cy="4019550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1466618cd43ee"/>
          <a:stretch xmlns:a="http://schemas.openxmlformats.org/drawingml/2006/main"/>
        </p:blipFill>
        <p:spPr>
          <a:xfrm xmlns:a="http://schemas.openxmlformats.org/drawingml/2006/main">
            <a:off x="7032203" y="1885950"/>
            <a:ext cx="3518745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5D94A-E6C9-4473-9992-7CC4780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006E"/>
                </a:solidFill>
              </a:defRPr>
            </a:pPr>
            <a:r>
              <a:rPr sz="1875" b="1">
                <a:solidFill>
                  <a:srgbClr val="C9006E"/>
                </a:solidFill>
              </a:rPr>
              <a:t>O que a evolução mostra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D21FE-3822-4A68-A848-83A775F4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8AE08-C6F6-4702-9B87-7FD5542E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895D"/>
                </a:solidFill>
              </a:defRPr>
            </a:pPr>
            <a:r>
              <a:rPr sz="2100" b="1">
                <a:solidFill>
                  <a:srgbClr val="12895D"/>
                </a:solidFill>
              </a:rPr>
              <a:t>Entradas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C3452-B9BC-4474-ACC4-65A23A3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A84"/>
                </a:solidFill>
              </a:defRPr>
            </a:pPr>
            <a:r>
              <a:rPr sz="1125" b="1">
                <a:solidFill>
                  <a:srgbClr val="596A84"/>
                </a:solidFill>
              </a:rPr>
              <a:t>Novos beneficiários no período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323B8-9EE4-41C3-A1C0-BFBD0F35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D345D-0A3C-4016-810E-5E85332C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9364F"/>
                </a:solidFill>
              </a:defRPr>
            </a:pPr>
            <a:r>
              <a:rPr sz="2100" b="1">
                <a:solidFill>
                  <a:srgbClr val="D9364F"/>
                </a:solidFill>
              </a:rPr>
              <a:t>Saídas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7D50C-198E-4EA3-960B-5B68A6D9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48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A84"/>
                </a:solidFill>
              </a:defRPr>
            </a:pPr>
            <a:r>
              <a:rPr sz="1125" b="1">
                <a:solidFill>
                  <a:srgbClr val="596A84"/>
                </a:solidFill>
              </a:rPr>
              <a:t>Cancelamentos e seus motivos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C87F2-944E-4F22-90E4-3DE8815F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B94C5-45AA-4B01-890A-14779245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895D"/>
                </a:solidFill>
              </a:defRPr>
            </a:pPr>
            <a:r>
              <a:rPr sz="2100" b="1">
                <a:solidFill>
                  <a:srgbClr val="12895D"/>
                </a:solidFill>
              </a:rPr>
              <a:t>Saldo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E9EA3-55FF-4CCA-8705-E68972D0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A84"/>
                </a:solidFill>
              </a:defRPr>
            </a:pPr>
            <a:r>
              <a:rPr sz="1125" b="1">
                <a:solidFill>
                  <a:srgbClr val="596A84"/>
                </a:solidFill>
              </a:rPr>
              <a:t>Entradas menos cancelamentos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7B4CE-2DDA-4487-8DEE-E57D32A6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48100"/>
            <a:ext cx="2286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3183A-7006-4019-8DCB-AA3BC81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B45E8"/>
                </a:solidFill>
              </a:defRPr>
            </a:pPr>
            <a:r>
              <a:rPr sz="2100" b="1">
                <a:solidFill>
                  <a:srgbClr val="7B45E8"/>
                </a:solidFill>
              </a:rPr>
              <a:t>Histórico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1DE3C-20D4-4EE4-888B-B85F2D20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100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96A84"/>
                </a:solidFill>
              </a:defRPr>
            </a:pPr>
            <a:r>
              <a:rPr sz="1125" b="1">
                <a:solidFill>
                  <a:srgbClr val="596A84"/>
                </a:solidFill>
              </a:rPr>
              <a:t>Comparação entre competências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0BE94-0A0E-45C9-B57F-74DE8FAA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13A"/>
                </a:solidFill>
              </a:defRPr>
            </a:pPr>
            <a:r>
              <a:rPr sz="1425" b="1">
                <a:solidFill>
                  <a:srgbClr val="13213A"/>
                </a:solidFill>
              </a:rPr>
              <a:t>A pergunta deixa de ser apenas “quanto mudou?” e passa a ser “por que mudou?”.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59A063-69AF-4FEC-96B3-73BD554B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05</a:t>
            </a:r>
          </a:p>
        </p:txBody>
      </p:sp>
    </p:spTree>
    <p:extLst>
      <p:ext uri="{BB962C8B-B14F-4D97-AF65-F5344CB8AC3E}">
        <p14:creationId xmlns:p14="http://schemas.microsoft.com/office/powerpoint/2010/main" val="412755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9A776-86AD-491E-A110-42A4FA55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D836A-F0A2-425A-A21B-5476E4D9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A distribuição territorial mostra onde o movimento acontece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E0AE4-2B9E-4356-91C6-A42FCFD7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Entradas, cancelamentos e saldo podem ser vistos por cidade, com leitura visual e tabela.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FAC94-53EF-44C2-A21A-5756B5FC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67056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d220b17c244f1"/>
          <a:stretch xmlns:a="http://schemas.openxmlformats.org/drawingml/2006/main"/>
        </p:blipFill>
        <p:spPr>
          <a:xfrm xmlns:a="http://schemas.openxmlformats.org/drawingml/2006/main">
            <a:off x="2688862" y="1924050"/>
            <a:ext cx="2623276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62CB5-CB32-4C1D-BFE3-667FC2C7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9006E"/>
                </a:solidFill>
              </a:defRPr>
            </a:pPr>
            <a:r>
              <a:rPr sz="1875" b="1">
                <a:solidFill>
                  <a:srgbClr val="C9006E"/>
                </a:solidFill>
              </a:rPr>
              <a:t>A análise territorial apoia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50F9F-AB27-4CE4-86AD-5947FB77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90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FD5E1-2F87-4332-908F-E0D7E98A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Prioridade comercial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98E99-D33F-49EC-8EB7-E52F367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Identificar cidades com maior concentração de entradas.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EEBA0-D4F5-4F47-9646-F6D84447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004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3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81A3A-A4C0-47B7-8A9F-72D8A75E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338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Atenção operacional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E46F8-ADA7-40FC-94BE-4D9ACB4D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Comparar saldo e cancelamentos por praça.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74A23-E5A6-428E-AA39-0E672A23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0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D71CB-7075-4759-9237-998C7D1C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434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Planejamento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E655A-833C-4B65-9BB5-EAA53DA7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1015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A84"/>
                </a:solidFill>
              </a:defRPr>
            </a:pPr>
            <a:r>
              <a:rPr sz="1200">
                <a:solidFill>
                  <a:srgbClr val="596A84"/>
                </a:solidFill>
              </a:rPr>
              <a:t>Usar a série mensal para orientar ações locais.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5C406-D257-4B0C-B92A-3C28AE9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06</a:t>
            </a:r>
          </a:p>
        </p:txBody>
      </p:sp>
    </p:spTree>
    <p:extLst>
      <p:ext uri="{BB962C8B-B14F-4D97-AF65-F5344CB8AC3E}">
        <p14:creationId xmlns:p14="http://schemas.microsoft.com/office/powerpoint/2010/main" val="861847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1C346-096B-4337-90E3-B1031B71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ATUALIZAÇÃO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28229-AACA-4221-A826-F8D1B0F3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Envio e Integração é o ponto de entrada dos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C93D7-EDE3-4130-A828-EDE336A8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O fluxo ideal é simples: atualizar, salvar, sincronizar e conferir.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B85A5-B2AB-4021-B9A9-7E0DF198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762500" cy="4019550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b74b351a54292"/>
          <a:stretch xmlns:a="http://schemas.openxmlformats.org/drawingml/2006/main"/>
        </p:blipFill>
        <p:spPr>
          <a:xfrm xmlns:a="http://schemas.openxmlformats.org/drawingml/2006/main">
            <a:off x="1813238" y="1943100"/>
            <a:ext cx="2431424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F5DF1-B96A-4DE4-B056-0CEC2BF9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895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A4EC2-3495-480C-9F33-D1DEC9B4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CCBA0-94EE-4A95-B4DF-EE67E1C3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812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1EEF3-CEB3-457E-A17B-6FED676C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Atualizar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6EEC7-A3BC-4BE3-B73E-F5E843A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Preencher a competência e os indicadores.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5F76A-A473-4993-97AA-3C85175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4895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EC611-A95B-4D4E-BF2B-868BB9F4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5F484-B29C-4C1C-950A-5C4A64BE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765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E4306-6336-4DBD-AE13-AFEE37B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Salvar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50839-C342-40A6-8783-50E1E3CC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Confirmar a gravação do mês.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EB3F2-9584-4EFB-A3F8-189C56E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4895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32336-727D-432E-874C-BD5113BA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4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8459E-E101-4026-811F-B1A9E540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71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0AE4-C25C-4412-8470-E1BF1277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Sincronizar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67526-E7D5-427F-A64A-5617ED0E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Disponibilizar o mesmo período para as telas.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F1573-2E28-4F8B-ACF8-812BDE2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895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7E8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A5303-34FC-4827-980D-E95E0FE6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9E88D-1743-48E8-B002-6982CA13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06150-98B0-4572-87E7-8D4C05B7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13A"/>
                </a:solidFill>
              </a:defRPr>
            </a:pPr>
            <a:r>
              <a:rPr sz="1500" b="1">
                <a:solidFill>
                  <a:srgbClr val="13213A"/>
                </a:solidFill>
              </a:rPr>
              <a:t>Conferir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98EB9-3D3F-4361-88A3-19F2E81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Validar Dashboard, Visão Geral e Relatórios.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FFE4A-EBD3-4E9C-983A-EBA5A1FF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07</a:t>
            </a:r>
          </a:p>
        </p:txBody>
      </p:sp>
    </p:spTree>
    <p:extLst>
      <p:ext uri="{BB962C8B-B14F-4D97-AF65-F5344CB8AC3E}">
        <p14:creationId xmlns:p14="http://schemas.microsoft.com/office/powerpoint/2010/main" val="346252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0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CB3B1-FACB-4A38-B9BE-B313E0BB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3282"/>
                </a:solidFill>
              </a:defRPr>
            </a:pPr>
            <a:r>
              <a:rPr sz="1050" b="1">
                <a:solidFill>
                  <a:srgbClr val="F13282"/>
                </a:solidFill>
              </a:rPr>
              <a:t>FUNÇÕES E ACESSOS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8E7E0-FFB6-4EF3-BAAD-05319859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Cada perfil deve enxergar o que precisa para trabalhar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0FED1-9AE8-491C-B001-DDD46CAB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C9D4"/>
                </a:solidFill>
              </a:defRPr>
            </a:pPr>
            <a:r>
              <a:rPr sz="1425">
                <a:solidFill>
                  <a:srgbClr val="D6C9D4"/>
                </a:solidFill>
              </a:rPr>
              <a:t>A governança combina responsabilidade, visibilidade e controle de acesso.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EE508-EC2B-42B1-9C48-52AF2BF1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41526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19AE4-812B-43AD-9070-9B45AC81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32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0DD45-9372-4628-9A90-1492C398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62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FertAISE Tech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749C9-F0BA-4043-AC87-752957C2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3282"/>
                </a:solidFill>
              </a:defRPr>
            </a:pPr>
            <a:r>
              <a:rPr sz="1350" b="1">
                <a:solidFill>
                  <a:srgbClr val="F13282"/>
                </a:solidFill>
              </a:rPr>
              <a:t>Administração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7FFDC-0FAC-466F-BE5E-29CB1DD0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C9D5"/>
                </a:solidFill>
              </a:defRPr>
            </a:pPr>
            <a:r>
              <a:rPr sz="1275">
                <a:solidFill>
                  <a:srgbClr val="D7C9D5"/>
                </a:solidFill>
              </a:rPr>
              <a:t>Usuários, telas, permissões e configuração central.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16512-2E8F-4BA5-9DFD-518C277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41526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38F4E-747C-44B3-B827-D91000E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B545B-2433-49FB-8CD3-B105A06E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Diretor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9136A-17A5-45B1-B828-EA24A687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CF6"/>
                </a:solidFill>
              </a:defRPr>
            </a:pPr>
            <a:r>
              <a:rPr sz="1350" b="1">
                <a:solidFill>
                  <a:srgbClr val="2E7CF6"/>
                </a:solidFill>
              </a:rPr>
              <a:t>Decisão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F2A1B-2B6E-4735-B31B-7E66EED2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432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C9D5"/>
                </a:solidFill>
              </a:defRPr>
            </a:pPr>
            <a:r>
              <a:rPr sz="1275">
                <a:solidFill>
                  <a:srgbClr val="D7C9D5"/>
                </a:solidFill>
              </a:rPr>
              <a:t>Dashboard, Visão Geral, Relatórios e leitura executiva.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ECE3D-1FAC-4131-AB61-469C7BF0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41526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9342D-DDBB-454D-B90A-10F000EE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4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C8B77-3065-4D59-A32D-D6FC2483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Gerente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15BE3-08C0-46CF-BE28-FE38E314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24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B45E8"/>
                </a:solidFill>
              </a:defRPr>
            </a:pPr>
            <a:r>
              <a:rPr sz="1350" b="1">
                <a:solidFill>
                  <a:srgbClr val="7B45E8"/>
                </a:solidFill>
              </a:rPr>
              <a:t>Operação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8D33C-222A-4353-B9EB-EF2A672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24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C9D5"/>
                </a:solidFill>
              </a:defRPr>
            </a:pPr>
            <a:r>
              <a:rPr sz="1275">
                <a:solidFill>
                  <a:srgbClr val="D7C9D5"/>
                </a:solidFill>
              </a:rPr>
              <a:t>Acompanhamento de indicadores e atualização autorizada.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55F6-88D6-4193-8638-38F5A3DB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41526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D1740-E30C-45BA-BC43-FB24AC8E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DCC5C-4BDD-4244-8024-7B86584A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Recepção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0FF6E-3136-4679-B833-2A256DE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895D"/>
                </a:solidFill>
              </a:defRPr>
            </a:pPr>
            <a:r>
              <a:rPr sz="1350" b="1">
                <a:solidFill>
                  <a:srgbClr val="12895D"/>
                </a:solidFill>
              </a:rPr>
              <a:t>Atendimento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861BC6-1492-4C6B-BD20-0EA26AE5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05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C9D5"/>
                </a:solidFill>
              </a:defRPr>
            </a:pPr>
            <a:r>
              <a:rPr sz="1275">
                <a:solidFill>
                  <a:srgbClr val="D7C9D5"/>
                </a:solidFill>
              </a:rPr>
              <a:t>Comunicação e rotina operacional conforme liberação.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9D445-3BB5-41AB-8828-123DDF33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744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41526"/>
          </a:solidFill>
          <a:ln xmlns:a="http://schemas.openxmlformats.org/drawingml/2006/main" w="9525">
            <a:solidFill>
              <a:srgbClr val="4A2A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B2A6A-247A-4E93-AB43-EAB3628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F0F127-5B01-4B11-B395-E74A202F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Vendedoras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BC582-FA2F-4B49-A6A3-AB8CEF74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86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58A00"/>
                </a:solidFill>
              </a:defRPr>
            </a:pPr>
            <a:r>
              <a:rPr sz="1350" b="1">
                <a:solidFill>
                  <a:srgbClr val="D58A00"/>
                </a:solidFill>
              </a:rPr>
              <a:t>Comercial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492C51-FFCD-4533-994C-E27B41D7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86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7C9D5"/>
                </a:solidFill>
              </a:defRPr>
            </a:pPr>
            <a:r>
              <a:rPr sz="1275">
                <a:solidFill>
                  <a:srgbClr val="D7C9D5"/>
                </a:solidFill>
              </a:rPr>
              <a:t>App de Vendas, oportunidades e resultados comerciais.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E138F-F8A8-4AA4-956F-BFA089E8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8C7"/>
                </a:solidFill>
              </a:defRPr>
            </a:pPr>
            <a:r>
              <a:rPr sz="900" b="1">
                <a:solidFill>
                  <a:srgbClr val="C9B8C7"/>
                </a:solidFill>
              </a:rPr>
              <a:t>PORTAL EXECUTIVO UNIODONTO  •  08</a:t>
            </a:r>
          </a:p>
        </p:txBody>
      </p:sp>
    </p:spTree>
    <p:extLst>
      <p:ext uri="{BB962C8B-B14F-4D97-AF65-F5344CB8AC3E}">
        <p14:creationId xmlns:p14="http://schemas.microsoft.com/office/powerpoint/2010/main" val="7406745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9AAE7E-4BC6-4E50-8A66-599F8CE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GLOSSÁRIO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22409-B6E8-4A5E-9180-889D708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As siglas essenciais para ler o painel sem ruído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66DA-4E85-43EC-8284-23080B6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Uma referência rápida para a conversa entre diretoria, operação e marketing.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2879E-BE79-49E4-A3C3-E7142910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2FFF-1D84-4A9E-9C6A-7214B59E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KPI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F61EC-4473-4872-85B8-1D423D16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Indicador-chave de desempenho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8E39B-C9C3-4CF0-A52C-6A4C399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O número que ajuda a acompanhar um objetivo.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B82DD-A601-4B4D-898A-319CDEF4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DE487-B68C-4EA8-B834-DBB1B926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ROI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3516A-D079-4E94-9834-D870D62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Retorno sobre investimento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3CC13-7461-4C8E-AB1D-86D3F20B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Quanto o resultado retorna em relação ao valor investido.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86782-077F-4DBF-AE79-0033783B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83535-20A2-4EE6-B5A5-31FC654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ROAS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3B224-AF6F-4F31-B6B4-FCB18198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Retorno sobre mídia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A0125-8AE9-4A92-B613-2A502D5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Receita atribuída comparada ao gasto de mídia.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04C2E-ECF3-4773-8E9D-8B3A66DD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9A182-22F6-4DB0-B57A-3C1AAA8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CAC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8664F-DB66-4D96-BA52-32D6D5EF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Custo de aquisição de cliente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D7684-610A-4143-8B8D-E31D2A4D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Custo médio para conquistar um cliente.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E6029-ECAF-4BD6-AB68-B96270CF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8E4DA-70C0-4EC6-89AA-9F26B64B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LTV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0C9E6-DDF8-4E54-8938-D76FE22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Valor do ciclo de vida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7C65E1-375A-40C6-90F9-8A1B0139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Valor estimado de um cliente ao longo do relacionamento.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A3F2A-8769-4A59-B75E-95A0B1E8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861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FFCD1-C5CE-4797-BA37-B391BEC1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NPS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FD12C-3B08-4596-976E-39AB6D57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Net Promoter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98D14-BBEE-462D-96EF-EC3FCECA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Medida de satisfação e recomendação.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6A124-6E2B-4B36-8378-5D0938D4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A64030-6ABF-4EC3-8D14-744F2BA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9006E"/>
                </a:solidFill>
              </a:defRPr>
            </a:pPr>
            <a:r>
              <a:rPr sz="1725" b="1">
                <a:solidFill>
                  <a:srgbClr val="C9006E"/>
                </a:solidFill>
              </a:rPr>
              <a:t>CTR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5627ED-1CF0-45D5-BB35-80743E20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Taxa de cliques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5BA49-A54F-46A1-B344-025870C6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Cliques divididos pelas impressões.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1AF70-9260-4DF9-A57F-3887047E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9B2F6-33F2-4EE2-A9F1-AD885E6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006E"/>
                </a:solidFill>
              </a:defRPr>
            </a:pPr>
            <a:r>
              <a:rPr sz="1350" b="1">
                <a:solidFill>
                  <a:srgbClr val="C9006E"/>
                </a:solidFill>
              </a:rPr>
              <a:t>CPC • CPM • CPL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053BA-3927-4C80-9A51-2B642231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Custos de mídia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EDD5A-6CED-4677-8911-47DC75A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Custo por clique, mil impressões e lead.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DEBA96-B985-4D7D-A678-29EF988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276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6C112-7E5E-44D6-BBF7-4031639C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006E"/>
                </a:solidFill>
              </a:defRPr>
            </a:pPr>
            <a:r>
              <a:rPr sz="1350" b="1">
                <a:solidFill>
                  <a:srgbClr val="C9006E"/>
                </a:solidFill>
              </a:rPr>
              <a:t>CRM • LGPD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B88C68-2E3B-4321-9438-2156899F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13A"/>
                </a:solidFill>
              </a:defRPr>
            </a:pPr>
            <a:r>
              <a:rPr sz="1200" b="1">
                <a:solidFill>
                  <a:srgbClr val="13213A"/>
                </a:solidFill>
              </a:rPr>
              <a:t>Relacionamento e privacidade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8540B5-434B-461A-8BA8-FD96F201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72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96A84"/>
                </a:solidFill>
              </a:defRPr>
            </a:pPr>
            <a:r>
              <a:rPr sz="1050">
                <a:solidFill>
                  <a:srgbClr val="596A84"/>
                </a:solidFill>
              </a:rPr>
              <a:t>Gestão de relacionamento e proteção de dados pessoais.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14D5D5-17DC-429E-BA1E-DCE2421F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09</a:t>
            </a:r>
          </a:p>
        </p:txBody>
      </p:sp>
    </p:spTree>
    <p:extLst>
      <p:ext uri="{BB962C8B-B14F-4D97-AF65-F5344CB8AC3E}">
        <p14:creationId xmlns:p14="http://schemas.microsoft.com/office/powerpoint/2010/main" val="1537296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7CE8F-3584-4905-93A1-2DA3046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8EC0A-8B8E-42F3-83AB-89BF3E9A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Profissionalismo também é saber o que está confirmado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B393E-9323-46F6-8EE5-CFC10A7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A apresentação correta diferencia dado real, estimativa, indisponibilidade e permissão.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4FECC-D271-45B6-9A13-F2174DC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4953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B7E85-F4E5-4CDD-B1C3-2534734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524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EE7AE-AAEA-4C81-B477-F1901DE0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895D"/>
                </a:solidFill>
              </a:defRPr>
            </a:pPr>
            <a:r>
              <a:rPr sz="1725" b="1">
                <a:solidFill>
                  <a:srgbClr val="12895D"/>
                </a:solidFill>
              </a:rPr>
              <a:t>Dado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DE48C-BBAF-482E-832E-50B672FC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A84"/>
                </a:solidFill>
              </a:defRPr>
            </a:pPr>
            <a:r>
              <a:rPr sz="1275">
                <a:solidFill>
                  <a:srgbClr val="596A84"/>
                </a:solidFill>
              </a:rPr>
              <a:t>Valor salvo para a competência e conferido na fonte.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92613-3FA2-4BA2-9114-04FC6787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4953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F1A5-0B86-4055-92AF-AD20DFE5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524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467C5-5F4A-4A1F-B471-06EBA74B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58A00"/>
                </a:solidFill>
              </a:defRPr>
            </a:pPr>
            <a:r>
              <a:rPr sz="1725" b="1">
                <a:solidFill>
                  <a:srgbClr val="D58A00"/>
                </a:solidFill>
              </a:rPr>
              <a:t>Estimativa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2307D-F324-44A1-8998-B4AF055F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A84"/>
                </a:solidFill>
              </a:defRPr>
            </a:pPr>
            <a:r>
              <a:rPr sz="1275">
                <a:solidFill>
                  <a:srgbClr val="596A84"/>
                </a:solidFill>
              </a:rPr>
              <a:t>Projeção usada para orientar, sempre identificada na interface.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9072B-ED7E-4CFC-ABDD-167E4669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4953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09738-D0AA-4B36-9361-6BD41B7B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524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3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796F1-4627-465B-B7F9-36805485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9364F"/>
                </a:solidFill>
              </a:defRPr>
            </a:pPr>
            <a:r>
              <a:rPr sz="1725" b="1">
                <a:solidFill>
                  <a:srgbClr val="D9364F"/>
                </a:solidFill>
              </a:rPr>
              <a:t>Indisponível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72B47-4EF9-4998-BA8F-AC9C8A1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A84"/>
                </a:solidFill>
              </a:defRPr>
            </a:pPr>
            <a:r>
              <a:rPr sz="1275">
                <a:solidFill>
                  <a:srgbClr val="596A84"/>
                </a:solidFill>
              </a:rPr>
              <a:t>Período sem registro confirmado; não deve ser preenchido silenciosamente.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32D92-C649-4472-A60D-E4CA5D8D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67100"/>
            <a:ext cx="4953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68872-48B4-4A8A-97F3-0B65AA3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1524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85D18-2D0E-4E59-BF69-3DB01B1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76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CF6"/>
                </a:solidFill>
              </a:defRPr>
            </a:pPr>
            <a:r>
              <a:rPr sz="1725" b="1">
                <a:solidFill>
                  <a:srgbClr val="2E7CF6"/>
                </a:solidFill>
              </a:rPr>
              <a:t>Acesso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50FAF-7CD3-4458-931D-09431935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A84"/>
                </a:solidFill>
              </a:defRPr>
            </a:pPr>
            <a:r>
              <a:rPr sz="1275">
                <a:solidFill>
                  <a:srgbClr val="596A84"/>
                </a:solidFill>
              </a:rPr>
              <a:t>Cada função visualiza e edita apenas o que foi autorizado.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7E0CA-2C8B-4A91-895B-A1258EB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Resultado esperado: menos retrabalho, menos dúvida e mais confiança na reunião.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F0FA8-CED2-4F2A-8CD8-C5CFE7A9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10</a:t>
            </a:r>
          </a:p>
        </p:txBody>
      </p:sp>
    </p:spTree>
    <p:extLst>
      <p:ext uri="{BB962C8B-B14F-4D97-AF65-F5344CB8AC3E}">
        <p14:creationId xmlns:p14="http://schemas.microsoft.com/office/powerpoint/2010/main" val="7919738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D904A1-59A4-4985-AF1F-C00382A1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006E"/>
                </a:solidFill>
              </a:defRPr>
            </a:pPr>
            <a:r>
              <a:rPr sz="1050" b="1">
                <a:solidFill>
                  <a:srgbClr val="C9006E"/>
                </a:solidFill>
              </a:rPr>
              <a:t>ROTEIRO DE 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7DB51-823E-429D-A5F6-3307751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13A"/>
                </a:solidFill>
              </a:defRPr>
            </a:pPr>
            <a:r>
              <a:rPr sz="2700" b="1">
                <a:solidFill>
                  <a:srgbClr val="13213A"/>
                </a:solidFill>
              </a:rPr>
              <a:t>Em poucos minutos, a diretoria percorre a lógica inteira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6DA04-3B0D-47F9-ABDF-3CBBA47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A84"/>
                </a:solidFill>
              </a:defRPr>
            </a:pPr>
            <a:r>
              <a:rPr sz="1425">
                <a:solidFill>
                  <a:srgbClr val="596A84"/>
                </a:solidFill>
              </a:rPr>
              <a:t>A sequência foi pensada para mostrar valor antes de entrar em detalhes operacionais.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7221E-AC7A-4043-B720-F3605F8A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8478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B9730-A20B-48CB-9D35-F949C46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99171-FB99-4BAB-B6D6-0CDD3B4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B966D-6E8F-4651-81B3-B5CF4476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Escolher o período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4956B-B479-45B7-8CB6-FA303CD3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Comece pelo mês que será discutido.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18490-FB87-4B2B-B54F-EDA174A8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18478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D27F8-BE4F-4CE6-9B0B-67D3B17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24241-2860-4C10-96A2-131A463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E0AD4-FB19-4825-8A89-2232D71D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Ler os KPIs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59D85-ADA0-48A5-9518-95A5ECE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05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Beneficiários, investimento, retorno, vendas e NPS.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F992D-CA52-4E5B-A762-7AA10792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18478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D447E-7795-4CEE-BAD9-7B527D5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62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B463F5-C8A1-4185-ADA7-4153D20F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8F8AD-7381-43B7-9D00-12398C3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Explicar o movimento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A142D-54FE-4436-AEC8-9BF06AD6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05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Evolução, cidades e motivos de cancelamento.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FAB39-DFFD-4B71-A5FA-DB499EA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14600"/>
            <a:ext cx="18478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9525">
            <a:solidFill>
              <a:srgbClr val="D9E1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9B3B1-9CDB-4683-86F3-ADFFBB0B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90E5C-31E2-4EC3-8B50-5FA72BE9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EDF29-81B4-47CA-B9F9-22A6A5A5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Abrir marketing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AE868-E724-4FEC-A4B9-898310FD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Canal, tráfego, leads e eficiência.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A28C4-BDFE-4D5F-9BBA-C11C6366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18478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9525">
            <a:solidFill>
              <a:srgbClr val="B7E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CB131-7C95-492E-88AB-B36EA286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62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8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0D853-6CB2-42D3-AF55-624FB7F9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FF99C-4FBD-456C-9F27-6F3ECB82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71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13A"/>
                </a:solidFill>
              </a:defRPr>
            </a:pPr>
            <a:r>
              <a:rPr sz="1575" b="1">
                <a:solidFill>
                  <a:srgbClr val="13213A"/>
                </a:solidFill>
              </a:rPr>
              <a:t>Fechar com ação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2D51B-A226-4C59-ACE8-011C664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05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A84"/>
                </a:solidFill>
              </a:defRPr>
            </a:pPr>
            <a:r>
              <a:rPr sz="1125">
                <a:solidFill>
                  <a:srgbClr val="596A84"/>
                </a:solidFill>
              </a:rPr>
              <a:t>Definir prioridade, responsável e próxima atualização.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44094B-F0B2-4586-BA4F-13B2F42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4790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006E"/>
          </a:solidFill>
          <a:ln xmlns:a="http://schemas.openxmlformats.org/drawingml/2006/main" w="0">
            <a:solidFill>
              <a:srgbClr val="C900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F014B-E892-4442-BC47-AA16EAF8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9006E"/>
                </a:solidFill>
              </a:defRPr>
            </a:pPr>
            <a:r>
              <a:rPr sz="1575" b="1">
                <a:solidFill>
                  <a:srgbClr val="C9006E"/>
                </a:solidFill>
              </a:rPr>
              <a:t>A apresentação começa pelo contexto e termina em uma decisão concreta.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B34F0-0018-445A-981F-01614557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B8AA2"/>
                </a:solidFill>
              </a:defRPr>
            </a:pPr>
            <a:r>
              <a:rPr sz="900" b="1">
                <a:solidFill>
                  <a:srgbClr val="7B8AA2"/>
                </a:solidFill>
              </a:rPr>
              <a:t>PORTAL EXECUTIVO UNIODONTO  •  11</a:t>
            </a:r>
          </a:p>
        </p:txBody>
      </p:sp>
    </p:spTree>
    <p:extLst>
      <p:ext uri="{BB962C8B-B14F-4D97-AF65-F5344CB8AC3E}">
        <p14:creationId xmlns:p14="http://schemas.microsoft.com/office/powerpoint/2010/main" val="2126277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09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D0E8F-834E-4EAC-A8A7-F7D0C6B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9006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595ca2984d39"/>
          <a:stretch xmlns:a="http://schemas.openxmlformats.org/drawingml/2006/main"/>
        </p:blipFill>
        <p:spPr>
          <a:xfrm xmlns:a="http://schemas.openxmlformats.org/drawingml/2006/main">
            <a:off x="876300" y="838200"/>
            <a:ext cx="1047750" cy="1047750"/>
          </a:xfrm>
          <a:prstGeom xmlns:a="http://schemas.openxmlformats.org/drawingml/2006/main" prst="roundRect">
            <a:avLst>
              <a:gd name="adj" fmla="val 1090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A7D58-04E6-4D99-9473-1B9D4218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Uma fonte de verdade.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1BBC8-D4AC-4169-9BA9-C378737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13282"/>
                </a:solidFill>
              </a:defRPr>
            </a:pPr>
            <a:r>
              <a:rPr sz="3900" b="1">
                <a:solidFill>
                  <a:srgbClr val="F13282"/>
                </a:solidFill>
              </a:rPr>
              <a:t>Uma leitura executiva.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84604-5926-46FD-98A4-596E64C6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Uma rotina de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4D392-E43D-4E10-BD41-FA5F5FCA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CBD6"/>
                </a:solidFill>
              </a:defRPr>
            </a:pPr>
            <a:r>
              <a:rPr sz="1800" b="1">
                <a:solidFill>
                  <a:srgbClr val="D8CBD6"/>
                </a:solidFill>
              </a:rPr>
              <a:t>Portal Executivo UniOdonto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6DA9B-3E65-4A41-A826-D2E4AFA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9B8C7"/>
                </a:solidFill>
              </a:defRPr>
            </a:pPr>
            <a:r>
              <a:rPr sz="900" b="1">
                <a:solidFill>
                  <a:srgbClr val="C9B8C7"/>
                </a:solidFill>
              </a:rPr>
              <a:t>PORTAL EXECUTIVO UNIODONTO  •  12</a:t>
            </a:r>
          </a:p>
        </p:txBody>
      </p:sp>
    </p:spTree>
    <p:extLst>
      <p:ext uri="{BB962C8B-B14F-4D97-AF65-F5344CB8AC3E}">
        <p14:creationId xmlns:p14="http://schemas.microsoft.com/office/powerpoint/2010/main" val="1002330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2026-08-10T23:32:10.0010000Z</dcterms:created>
  <dcterms:modified xsi:type="dcterms:W3CDTF">2026-08-10T23:32:10.0010000Z</dcterms:modified>
</coreProperties>
</file>